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6" r:id="rId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02" d="100"/>
          <a:sy n="202" d="100"/>
        </p:scale>
        <p:origin x="620" y="11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69150" y="829925"/>
            <a:ext cx="2274000" cy="1845000"/>
          </a:xfrm>
          <a:prstGeom prst="rect">
            <a:avLst/>
          </a:prstGeom>
          <a:solidFill>
            <a:srgbClr val="FFF2CC"/>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chemeClr val="dk2"/>
                </a:solidFill>
              </a:rPr>
              <a:t>Abstract</a:t>
            </a:r>
            <a:endParaRPr sz="1800" b="1">
              <a:solidFill>
                <a:schemeClr val="dk2"/>
              </a:solidFill>
            </a:endParaRPr>
          </a:p>
        </p:txBody>
      </p:sp>
      <p:sp>
        <p:nvSpPr>
          <p:cNvPr id="55" name="Google Shape;55;p13"/>
          <p:cNvSpPr txBox="1"/>
          <p:nvPr/>
        </p:nvSpPr>
        <p:spPr>
          <a:xfrm>
            <a:off x="149475" y="1218550"/>
            <a:ext cx="2150400" cy="1353300"/>
          </a:xfrm>
          <a:prstGeom prst="rect">
            <a:avLst/>
          </a:prstGeom>
          <a:solidFill>
            <a:srgbClr val="FFF2CC"/>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700" dirty="0">
                <a:solidFill>
                  <a:schemeClr val="dk2"/>
                </a:solidFill>
              </a:rPr>
              <a:t>We prototype μInference, an SL5‑aligned “Weight Enclave” for GPU inference that combines a formally verified OS kernel (se4l), a minimal Buildroot Linux VM, and Python‑first inference (PyTorch/Transformers) to shrink the trusted computing base around covered model weights such as gpt‑oss‑20B(high). Our enclave adds an explicit low‑bandwidth egress proxy and architectural isolation, offering a concrete, deployable SL5 inference stack.</a:t>
            </a:r>
            <a:endParaRPr sz="700" dirty="0">
              <a:solidFill>
                <a:schemeClr val="dk2"/>
              </a:solidFill>
            </a:endParaRPr>
          </a:p>
        </p:txBody>
      </p:sp>
      <p:sp>
        <p:nvSpPr>
          <p:cNvPr id="56" name="Google Shape;56;p13"/>
          <p:cNvSpPr txBox="1"/>
          <p:nvPr/>
        </p:nvSpPr>
        <p:spPr>
          <a:xfrm>
            <a:off x="69375" y="2740100"/>
            <a:ext cx="2274000" cy="2327700"/>
          </a:xfrm>
          <a:prstGeom prst="rect">
            <a:avLst/>
          </a:prstGeom>
          <a:solidFill>
            <a:srgbClr val="B6D7A8"/>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chemeClr val="dk2"/>
                </a:solidFill>
              </a:rPr>
              <a:t>Introduction </a:t>
            </a:r>
            <a:endParaRPr sz="1800" b="1">
              <a:solidFill>
                <a:schemeClr val="dk2"/>
              </a:solidFill>
            </a:endParaRPr>
          </a:p>
        </p:txBody>
      </p:sp>
      <p:sp>
        <p:nvSpPr>
          <p:cNvPr id="57" name="Google Shape;57;p13"/>
          <p:cNvSpPr txBox="1"/>
          <p:nvPr/>
        </p:nvSpPr>
        <p:spPr>
          <a:xfrm>
            <a:off x="69375" y="44575"/>
            <a:ext cx="9022500" cy="441600"/>
          </a:xfrm>
          <a:prstGeom prst="rect">
            <a:avLst/>
          </a:prstGeom>
          <a:solidFill>
            <a:srgbClr val="D9D2E9"/>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chemeClr val="dk2"/>
                </a:solidFill>
              </a:rPr>
              <a:t>μInference: SL5 Weight Enclave</a:t>
            </a:r>
            <a:endParaRPr sz="1800" b="1">
              <a:solidFill>
                <a:schemeClr val="dk2"/>
              </a:solidFill>
            </a:endParaRPr>
          </a:p>
          <a:p>
            <a:pPr marL="0" lvl="0" indent="0" algn="ctr" rtl="0">
              <a:spcBef>
                <a:spcPts val="0"/>
              </a:spcBef>
              <a:spcAft>
                <a:spcPts val="0"/>
              </a:spcAft>
              <a:buNone/>
            </a:pPr>
            <a:endParaRPr sz="1800" b="1">
              <a:solidFill>
                <a:schemeClr val="dk2"/>
              </a:solidFill>
            </a:endParaRPr>
          </a:p>
          <a:p>
            <a:pPr marL="0" lvl="0" indent="0" algn="ctr" rtl="0">
              <a:spcBef>
                <a:spcPts val="0"/>
              </a:spcBef>
              <a:spcAft>
                <a:spcPts val="0"/>
              </a:spcAft>
              <a:buNone/>
            </a:pPr>
            <a:endParaRPr sz="1800" b="1">
              <a:solidFill>
                <a:schemeClr val="dk2"/>
              </a:solidFill>
            </a:endParaRPr>
          </a:p>
        </p:txBody>
      </p:sp>
      <p:sp>
        <p:nvSpPr>
          <p:cNvPr id="58" name="Google Shape;58;p13"/>
          <p:cNvSpPr txBox="1"/>
          <p:nvPr/>
        </p:nvSpPr>
        <p:spPr>
          <a:xfrm>
            <a:off x="149350" y="3160600"/>
            <a:ext cx="2150400" cy="1845000"/>
          </a:xfrm>
          <a:prstGeom prst="rect">
            <a:avLst/>
          </a:prstGeom>
          <a:solidFill>
            <a:srgbClr val="B6D7A8"/>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2"/>
                </a:solidFill>
              </a:rPr>
              <a:t>Security Level 5 (SL5) targets adversaries with nation‑state capabilities and focuses on preventing theft and sabotage of models, requiring Weight Enclaves that are air‑gapped, bandwidth‑limited, and run only minimal, signed code near weights. μInference began as a midterm exploration of “how small can the inference stack be?” and has evolved into a full SL5‑oriented Weight Enclave.</a:t>
            </a:r>
            <a:endParaRPr sz="800">
              <a:solidFill>
                <a:schemeClr val="dk2"/>
              </a:solidFill>
            </a:endParaRPr>
          </a:p>
        </p:txBody>
      </p:sp>
      <p:sp>
        <p:nvSpPr>
          <p:cNvPr id="59" name="Google Shape;59;p13"/>
          <p:cNvSpPr txBox="1"/>
          <p:nvPr/>
        </p:nvSpPr>
        <p:spPr>
          <a:xfrm>
            <a:off x="189500" y="546225"/>
            <a:ext cx="8849100" cy="12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60" name="Google Shape;60;p13"/>
          <p:cNvSpPr txBox="1"/>
          <p:nvPr/>
        </p:nvSpPr>
        <p:spPr>
          <a:xfrm>
            <a:off x="149375" y="559600"/>
            <a:ext cx="5504700" cy="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61" name="Google Shape;61;p13"/>
          <p:cNvSpPr txBox="1"/>
          <p:nvPr/>
        </p:nvSpPr>
        <p:spPr>
          <a:xfrm>
            <a:off x="182825" y="539550"/>
            <a:ext cx="6600" cy="22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62" name="Google Shape;62;p13"/>
          <p:cNvSpPr txBox="1"/>
          <p:nvPr/>
        </p:nvSpPr>
        <p:spPr>
          <a:xfrm>
            <a:off x="69375" y="497175"/>
            <a:ext cx="9022500" cy="267600"/>
          </a:xfrm>
          <a:prstGeom prst="rect">
            <a:avLst/>
          </a:prstGeom>
          <a:solidFill>
            <a:srgbClr val="EAD1DC"/>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500" b="1">
                <a:solidFill>
                  <a:schemeClr val="dk2"/>
                </a:solidFill>
                <a:highlight>
                  <a:srgbClr val="EAD1DC"/>
                </a:highlight>
              </a:rPr>
              <a:t>Samruddhi Rahate, Vansh Agrawal, Godric Aceves, Luis Cosio</a:t>
            </a:r>
            <a:endParaRPr sz="500" b="1">
              <a:solidFill>
                <a:schemeClr val="dk2"/>
              </a:solidFill>
              <a:highlight>
                <a:srgbClr val="EAD1DC"/>
              </a:highlight>
            </a:endParaRPr>
          </a:p>
          <a:p>
            <a:pPr marL="0" lvl="0" indent="0" algn="ctr" rtl="0">
              <a:spcBef>
                <a:spcPts val="0"/>
              </a:spcBef>
              <a:spcAft>
                <a:spcPts val="0"/>
              </a:spcAft>
              <a:buNone/>
            </a:pPr>
            <a:r>
              <a:rPr lang="en" sz="500" b="1">
                <a:solidFill>
                  <a:schemeClr val="dk2"/>
                </a:solidFill>
                <a:highlight>
                  <a:srgbClr val="EAD1DC"/>
                </a:highlight>
              </a:rPr>
              <a:t>Emails: rahatesamruddhi7@gmail.com, vansh_a@ph.iitr.ac.in, ricardo.godric@hotmail.com, luisalfonsocosioizcapa@gmail.com</a:t>
            </a:r>
            <a:endParaRPr sz="500" b="1">
              <a:solidFill>
                <a:schemeClr val="dk2"/>
              </a:solidFill>
              <a:highlight>
                <a:srgbClr val="EAD1DC"/>
              </a:highlight>
            </a:endParaRPr>
          </a:p>
          <a:p>
            <a:pPr marL="0" lvl="0" indent="0" algn="ctr" rtl="0">
              <a:spcBef>
                <a:spcPts val="0"/>
              </a:spcBef>
              <a:spcAft>
                <a:spcPts val="0"/>
              </a:spcAft>
              <a:buNone/>
            </a:pPr>
            <a:endParaRPr sz="500" b="1">
              <a:solidFill>
                <a:schemeClr val="dk2"/>
              </a:solidFill>
              <a:highlight>
                <a:srgbClr val="EAD1DC"/>
              </a:highlight>
            </a:endParaRPr>
          </a:p>
        </p:txBody>
      </p:sp>
      <p:sp>
        <p:nvSpPr>
          <p:cNvPr id="63" name="Google Shape;63;p13"/>
          <p:cNvSpPr txBox="1"/>
          <p:nvPr/>
        </p:nvSpPr>
        <p:spPr>
          <a:xfrm>
            <a:off x="2483675" y="829925"/>
            <a:ext cx="2193900" cy="1990500"/>
          </a:xfrm>
          <a:prstGeom prst="rect">
            <a:avLst/>
          </a:prstGeom>
          <a:solidFill>
            <a:srgbClr val="FCE5CD"/>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chemeClr val="dk2"/>
                </a:solidFill>
              </a:rPr>
              <a:t>Methods </a:t>
            </a:r>
            <a:endParaRPr sz="1800" b="1">
              <a:solidFill>
                <a:schemeClr val="dk2"/>
              </a:solidFill>
            </a:endParaRPr>
          </a:p>
        </p:txBody>
      </p:sp>
      <p:sp>
        <p:nvSpPr>
          <p:cNvPr id="64" name="Google Shape;64;p13"/>
          <p:cNvSpPr txBox="1"/>
          <p:nvPr/>
        </p:nvSpPr>
        <p:spPr>
          <a:xfrm>
            <a:off x="2551275" y="1248550"/>
            <a:ext cx="2067600" cy="1491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700" dirty="0">
                <a:solidFill>
                  <a:schemeClr val="dk2"/>
                </a:solidFill>
              </a:rPr>
              <a:t>We run μInference inside a CAmkES VM on Buildroot Linux using a stripped‑down Buildroot image that only includes networking, filesystems, and PyTorch/Transformers binaries, then compare its LOC, dependencies, and open services to a conventional GPU inference stack. We further add a KB/s‑limited egress proxy, simple fuzzing and scan‑based security tests, and document the need to passthrough NVIDIA GPUs via a Linux VM rather than driving them natively from Buildroot Linux.</a:t>
            </a:r>
            <a:endParaRPr sz="700" dirty="0">
              <a:solidFill>
                <a:schemeClr val="dk2"/>
              </a:solidFill>
            </a:endParaRPr>
          </a:p>
          <a:p>
            <a:pPr marL="0" lvl="0" indent="0" algn="ctr" rtl="0">
              <a:spcBef>
                <a:spcPts val="1200"/>
              </a:spcBef>
              <a:spcAft>
                <a:spcPts val="0"/>
              </a:spcAft>
              <a:buNone/>
            </a:pPr>
            <a:endParaRPr sz="700" dirty="0">
              <a:solidFill>
                <a:schemeClr val="dk2"/>
              </a:solidFill>
            </a:endParaRPr>
          </a:p>
        </p:txBody>
      </p:sp>
      <p:sp>
        <p:nvSpPr>
          <p:cNvPr id="65" name="Google Shape;65;p13"/>
          <p:cNvSpPr txBox="1"/>
          <p:nvPr/>
        </p:nvSpPr>
        <p:spPr>
          <a:xfrm>
            <a:off x="2483675" y="2907250"/>
            <a:ext cx="2193900" cy="2162700"/>
          </a:xfrm>
          <a:prstGeom prst="rect">
            <a:avLst/>
          </a:prstGeom>
          <a:solidFill>
            <a:srgbClr val="CFE2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chemeClr val="dk2"/>
                </a:solidFill>
              </a:rPr>
              <a:t>Results</a:t>
            </a:r>
            <a:endParaRPr sz="1800" b="1">
              <a:solidFill>
                <a:schemeClr val="dk2"/>
              </a:solidFill>
            </a:endParaRPr>
          </a:p>
        </p:txBody>
      </p:sp>
      <p:sp>
        <p:nvSpPr>
          <p:cNvPr id="66" name="Google Shape;66;p13"/>
          <p:cNvSpPr txBox="1"/>
          <p:nvPr/>
        </p:nvSpPr>
        <p:spPr>
          <a:xfrm>
            <a:off x="4796500" y="829925"/>
            <a:ext cx="2193900" cy="4237800"/>
          </a:xfrm>
          <a:prstGeom prst="rect">
            <a:avLst/>
          </a:prstGeom>
          <a:solidFill>
            <a:srgbClr val="CFE2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chemeClr val="dk2"/>
                </a:solidFill>
              </a:rPr>
              <a:t>Results</a:t>
            </a:r>
            <a:endParaRPr sz="1800" b="1">
              <a:solidFill>
                <a:schemeClr val="dk2"/>
              </a:solidFill>
            </a:endParaRPr>
          </a:p>
        </p:txBody>
      </p:sp>
      <p:sp>
        <p:nvSpPr>
          <p:cNvPr id="67" name="Google Shape;67;p13"/>
          <p:cNvSpPr txBox="1"/>
          <p:nvPr/>
        </p:nvSpPr>
        <p:spPr>
          <a:xfrm>
            <a:off x="2542325" y="3308775"/>
            <a:ext cx="2067600" cy="165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2"/>
                </a:solidFill>
              </a:rPr>
              <a:t>The μInference Weight Enclave substantially shrinks the software and service footprint around model weights compared to a conventional stack. Using Buildroot and Buildroot Linux/BusyBox, we remove most of the general‑purpose distro, container tooling, and orchestration, leaving a minimal VM image that still supports practical GPU inference via PyTorch/Transformers (Python).</a:t>
            </a:r>
            <a:endParaRPr sz="800">
              <a:solidFill>
                <a:schemeClr val="dk2"/>
              </a:solidFill>
            </a:endParaRPr>
          </a:p>
        </p:txBody>
      </p:sp>
      <p:sp>
        <p:nvSpPr>
          <p:cNvPr id="68" name="Google Shape;68;p13"/>
          <p:cNvSpPr txBox="1"/>
          <p:nvPr/>
        </p:nvSpPr>
        <p:spPr>
          <a:xfrm>
            <a:off x="4852463" y="1299175"/>
            <a:ext cx="2067600" cy="366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chemeClr val="dk2"/>
                </a:solidFill>
              </a:rPr>
              <a:t>LOC and dependency analysis shows a large reduction in code that can directly touch weights, consistent with the SL5 mandate for Weight Enclaves to run only minimal necessary software under strict allow‑by‑exception execution. </a:t>
            </a:r>
            <a:endParaRPr sz="800">
              <a:solidFill>
                <a:schemeClr val="dk2"/>
              </a:solidFill>
            </a:endParaRPr>
          </a:p>
          <a:p>
            <a:pPr marL="0" lvl="0" indent="0" algn="l" rtl="0">
              <a:spcBef>
                <a:spcPts val="0"/>
              </a:spcBef>
              <a:spcAft>
                <a:spcPts val="0"/>
              </a:spcAft>
              <a:buNone/>
            </a:pPr>
            <a:endParaRPr sz="800">
              <a:solidFill>
                <a:schemeClr val="dk2"/>
              </a:solidFill>
            </a:endParaRPr>
          </a:p>
          <a:p>
            <a:pPr marL="0" lvl="0" indent="0" algn="l" rtl="0">
              <a:spcBef>
                <a:spcPts val="0"/>
              </a:spcBef>
              <a:spcAft>
                <a:spcPts val="0"/>
              </a:spcAft>
              <a:buNone/>
            </a:pPr>
            <a:r>
              <a:rPr lang="en" sz="800">
                <a:solidFill>
                  <a:schemeClr val="dk2"/>
                </a:solidFill>
              </a:rPr>
              <a:t>Network and port scans confirm that, unlike a baseline containerized stack with multiple exposed services, the enclave exports a single, narrow RPC interface mediated by a host proxy that rate‑limits replies to KB/s of text. Experiments with this proxy demonstrate that exfiltrating multi‑GB or TB‑scale models through the text channel would take months to centuries, matching SL5’s call for physical or bandwidth limits on Weight Enclave boundaries so that theft is operationally infeasible even if detection fails. </a:t>
            </a:r>
            <a:endParaRPr sz="800">
              <a:solidFill>
                <a:schemeClr val="dk2"/>
              </a:solidFill>
            </a:endParaRPr>
          </a:p>
          <a:p>
            <a:pPr marL="0" lvl="0" indent="0" algn="l" rtl="0">
              <a:spcBef>
                <a:spcPts val="0"/>
              </a:spcBef>
              <a:spcAft>
                <a:spcPts val="0"/>
              </a:spcAft>
              <a:buNone/>
            </a:pPr>
            <a:endParaRPr sz="800">
              <a:solidFill>
                <a:schemeClr val="dk2"/>
              </a:solidFill>
            </a:endParaRPr>
          </a:p>
          <a:p>
            <a:pPr marL="0" lvl="0" indent="0" algn="l" rtl="0">
              <a:spcBef>
                <a:spcPts val="0"/>
              </a:spcBef>
              <a:spcAft>
                <a:spcPts val="0"/>
              </a:spcAft>
              <a:buNone/>
            </a:pPr>
            <a:r>
              <a:rPr lang="en" sz="800">
                <a:solidFill>
                  <a:schemeClr val="dk2"/>
                </a:solidFill>
              </a:rPr>
              <a:t>Early fuzzing and light vulnerability scanning reveal fewer reachable services and simpler failure modes than the baseline stack, though we still observe that the Linux guest and NVIDIA GPU driver dominate the remaining TCB, highlighting GPU support as the main unresolved security bottleneck. </a:t>
            </a:r>
            <a:endParaRPr sz="800">
              <a:solidFill>
                <a:schemeClr val="dk2"/>
              </a:solidFill>
            </a:endParaRPr>
          </a:p>
        </p:txBody>
      </p:sp>
      <p:sp>
        <p:nvSpPr>
          <p:cNvPr id="69" name="Google Shape;69;p13"/>
          <p:cNvSpPr txBox="1"/>
          <p:nvPr/>
        </p:nvSpPr>
        <p:spPr>
          <a:xfrm>
            <a:off x="7109325" y="829925"/>
            <a:ext cx="1973100" cy="2995200"/>
          </a:xfrm>
          <a:prstGeom prst="rect">
            <a:avLst/>
          </a:prstGeom>
          <a:solidFill>
            <a:srgbClr val="D9D2E9"/>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chemeClr val="dk2"/>
                </a:solidFill>
              </a:rPr>
              <a:t>Discussion</a:t>
            </a:r>
            <a:endParaRPr sz="1800" b="1">
              <a:solidFill>
                <a:schemeClr val="dk2"/>
              </a:solidFill>
            </a:endParaRPr>
          </a:p>
        </p:txBody>
      </p:sp>
      <p:sp>
        <p:nvSpPr>
          <p:cNvPr id="70" name="Google Shape;70;p13"/>
          <p:cNvSpPr txBox="1"/>
          <p:nvPr/>
        </p:nvSpPr>
        <p:spPr>
          <a:xfrm>
            <a:off x="7168025" y="1368513"/>
            <a:ext cx="1887600" cy="2366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2"/>
                </a:solidFill>
              </a:rPr>
              <a:t>This work shows that SL5 concepts like Weight Enclaves, architectural isolation, and low‑bandwidth boundaries can be realized today using verified microkernels and minimized guests, but also highlights that current GPUs are not yet designed as true independent security domains. We argue for expanding Python and verification in μInference (in line with SL5’s “refactor/rewrite/verify” guidance and DARPA’s TRACTOR push from C to Python) and for long‑term collaboration with GPU vendors and the Buildroot Linux community to remove the need for a full Linux VM in the weight‑touching ring.</a:t>
            </a:r>
            <a:endParaRPr sz="800">
              <a:solidFill>
                <a:schemeClr val="dk2"/>
              </a:solidFill>
            </a:endParaRPr>
          </a:p>
        </p:txBody>
      </p:sp>
      <p:sp>
        <p:nvSpPr>
          <p:cNvPr id="71" name="Google Shape;71;p13"/>
          <p:cNvSpPr txBox="1"/>
          <p:nvPr/>
        </p:nvSpPr>
        <p:spPr>
          <a:xfrm>
            <a:off x="7109325" y="3917975"/>
            <a:ext cx="1973100" cy="1149600"/>
          </a:xfrm>
          <a:prstGeom prst="rect">
            <a:avLst/>
          </a:prstGeom>
          <a:solidFill>
            <a:srgbClr val="D0E0E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chemeClr val="dk2"/>
                </a:solidFill>
              </a:rPr>
              <a:t>References </a:t>
            </a:r>
            <a:endParaRPr sz="1800" b="1">
              <a:solidFill>
                <a:schemeClr val="dk2"/>
              </a:solidFill>
            </a:endParaRPr>
          </a:p>
        </p:txBody>
      </p:sp>
      <p:sp>
        <p:nvSpPr>
          <p:cNvPr id="72" name="Google Shape;72;p13"/>
          <p:cNvSpPr txBox="1"/>
          <p:nvPr/>
        </p:nvSpPr>
        <p:spPr>
          <a:xfrm>
            <a:off x="7262475" y="4338650"/>
            <a:ext cx="1715700" cy="59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00">
                <a:solidFill>
                  <a:schemeClr val="dk2"/>
                </a:solidFill>
              </a:rPr>
              <a:t>Key references include the SL5 Standard for AI Security (formal Weight Enclave and accelerator security requirements), the SL5 Novel Recommendations (radical stack reduction and refactor/rewrite/verify guidance), the μInference midterm report on minimal secure inference stacks, and work on Buildroot Linux verification and DARPA’s TRACTOR program on C→Python translation for memory safety.</a:t>
            </a:r>
            <a:endParaRPr sz="400">
              <a:solidFill>
                <a:schemeClr val="dk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af611b9f-07f9-4735-9f2f-45a599566f6b}" enabled="1" method="Standard" siteId="{261bc682-cd4a-4ee7-8ae4-9e82e1342e72}" contentBits="0" removed="0"/>
</clbl:labelList>
</file>

<file path=docProps/app.xml><?xml version="1.0" encoding="utf-8"?>
<Properties xmlns="http://schemas.openxmlformats.org/officeDocument/2006/extended-properties" xmlns:vt="http://schemas.openxmlformats.org/officeDocument/2006/docPropsVTypes">
  <TotalTime>0</TotalTime>
  <Words>710</Words>
  <Application>Microsoft Office PowerPoint</Application>
  <PresentationFormat>On-screen Show (16:9)</PresentationFormat>
  <Paragraphs>21</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Luis Cosio</cp:lastModifiedBy>
  <cp:revision>1</cp:revision>
  <dcterms:modified xsi:type="dcterms:W3CDTF">2025-12-08T07:47:58Z</dcterms:modified>
</cp:coreProperties>
</file>