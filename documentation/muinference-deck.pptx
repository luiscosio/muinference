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15" d="100"/>
          <a:sy n="115" d="100"/>
        </p:scale>
        <p:origin x="66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6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6200" b="1">
                <a:solidFill>
                  <a:srgbClr val="E8ECF1"/>
                </a:solidFill>
                <a:latin typeface="Helvetica Neue"/>
              </a:rPr>
              <a:t>μInference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004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0">
                <a:solidFill>
                  <a:srgbClr val="36D3C4"/>
                </a:solidFill>
                <a:latin typeface="Helvetica Neue"/>
              </a:rPr>
              <a:t>A verifiable minimum inference engine for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8B99A8"/>
                </a:solidFill>
                <a:latin typeface="Helvetica Neue"/>
              </a:rPr>
              <a:t>692 lines of trusted code.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8B99A8"/>
                </a:solidFill>
                <a:latin typeface="Helvetica Neue"/>
              </a:rPr>
              <a:t>Same output on seven different systems, bit for bit.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8B99A8"/>
                </a:solidFill>
                <a:latin typeface="Helvetica Neue"/>
              </a:rPr>
              <a:t>Runs on seL4, a formally verified microkernel.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8521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Helvetica Neue"/>
              </a:rPr>
              <a:t>SL5 Task Force  ·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300" b="1">
                <a:solidFill>
                  <a:srgbClr val="E8ECF1"/>
                </a:solidFill>
                <a:latin typeface="Helvetica Neue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25296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B99A8"/>
                </a:solidFill>
                <a:latin typeface="Helvetica Neue"/>
              </a:rPr>
              <a:t>A small LLM inference engine built to be checked.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3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36D3C4"/>
                </a:solidFill>
                <a:latin typeface="Helvetica Neue"/>
              </a:rPr>
              <a:t>Small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692 lines of code do the inference.
No libc. No libm. No heap. No threads.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3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36D3C4"/>
                </a:solidFill>
                <a:latin typeface="Helvetica Neue"/>
              </a:rPr>
              <a:t>Reproducible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60604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Same weights and prompt give the same
logits on every system tested.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92024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9B8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21488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9B8CF0"/>
                </a:solidFill>
                <a:latin typeface="Helvetica Neue"/>
              </a:rPr>
              <a:t>Isolated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0604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Runs as one seL4 protection domain.
No device access. No Linux.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92024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9B8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2148840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9B8CF0"/>
                </a:solidFill>
                <a:latin typeface="Helvetica Neue"/>
              </a:rPr>
              <a:t>Bounded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60604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Memory use is fixed at build time.
4.1 MB. No input can change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9080"/>
            <a:ext cx="10607040" cy="2011680"/>
          </a:xfrm>
          <a:prstGeom prst="roundRect">
            <a:avLst>
              <a:gd name="adj" fmla="val 6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2976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2B037"/>
                </a:solidFill>
                <a:latin typeface="Helvetica Neue"/>
              </a:rPr>
              <a:t>What it is 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0916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0">
                <a:solidFill>
                  <a:srgbClr val="E8ECF1"/>
                </a:solidFill>
                <a:latin typeface="Helvetica Neue"/>
              </a:rPr>
              <a:t>To check that some other system ran a model correctly, you have to run it again yourself.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0">
                <a:solidFill>
                  <a:srgbClr val="E8ECF1"/>
                </a:solidFill>
                <a:latin typeface="Helvetica Neue"/>
              </a:rPr>
              <a:t>That means you need an engine you trust more than the one you are checking.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0">
                <a:solidFill>
                  <a:srgbClr val="E8ECF1"/>
                </a:solidFill>
                <a:latin typeface="Helvetica Neue"/>
              </a:rPr>
              <a:t>Existing engines are too large to trust and do not give the same answer twice.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muInference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300" b="1">
                <a:solidFill>
                  <a:srgbClr val="E8ECF1"/>
                </a:solidFill>
                <a:latin typeface="Helvetica Neue"/>
              </a:rPr>
              <a:t>Why other engines are not 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25296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B99A8"/>
                </a:solidFill>
                <a:latin typeface="Helvetica Neue"/>
              </a:rPr>
              <a:t>The cause is batching, not floating-point error.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120640" cy="26517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E5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E55C5C"/>
                </a:solidFill>
                <a:latin typeface="Helvetica Neue"/>
              </a:rPr>
              <a:t>vLLM, SGLang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E8ECF1"/>
                </a:solidFill>
                <a:latin typeface="Helvetica Neue"/>
              </a:rPr>
              <a:t>They batch requests together.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E8ECF1"/>
                </a:solidFill>
                <a:latin typeface="Helvetica Neue"/>
              </a:rPr>
              <a:t>Batch size changes how sums are split up.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E8ECF1"/>
                </a:solidFill>
                <a:latin typeface="Helvetica Neue"/>
              </a:rPr>
              <a:t>Batch size depends on how busy the server is.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F2B037"/>
                </a:solidFill>
                <a:latin typeface="Helvetica Neue"/>
              </a:rPr>
              <a:t>1000 runs of one prompt gave 80 different answers.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F2B037"/>
                </a:solidFill>
                <a:latin typeface="Helvetica Neue"/>
              </a:rPr>
              <a:t>Forcing them to be reproducible costs 1.6-2x speed.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74519"/>
            <a:ext cx="5120640" cy="26517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3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36D3C4"/>
                </a:solidFill>
                <a:latin typeface="Helvetica Neue"/>
              </a:rPr>
              <a:t>μInference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06040"/>
            <a:ext cx="45720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E8ECF1"/>
                </a:solidFill>
                <a:latin typeface="Helvetica Neue"/>
              </a:rPr>
              <a:t>It does not batch.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E8ECF1"/>
                </a:solidFill>
                <a:latin typeface="Helvetica Neue"/>
              </a:rPr>
              <a:t>One request at a time, one sum order, always.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E8ECF1"/>
                </a:solidFill>
                <a:latin typeface="Helvetica Neue"/>
              </a:rPr>
              <a:t>So the problem does not arise.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36D3C4"/>
                </a:solidFill>
                <a:latin typeface="Helvetica Neue"/>
              </a:rPr>
              <a:t>Reproducibility costs nothing here.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0">
                <a:solidFill>
                  <a:srgbClr val="36D3C4"/>
                </a:solidFill>
                <a:latin typeface="Helvetica Neue"/>
              </a:rPr>
              <a:t>It is a result of the design.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4632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504748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36D3C4"/>
                </a:solidFill>
                <a:latin typeface="Menlo"/>
              </a:rPr>
              <a:t>for (j = 0; j &lt; n; j++)  val += wr[j] * x[j];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6811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8B99A8"/>
                </a:solidFill>
                <a:latin typeface="Helvetica Neue"/>
              </a:rPr>
              <a:t>This loop must stay exactly this shape.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muInference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300" b="1">
                <a:solidFill>
                  <a:srgbClr val="E8ECF1"/>
                </a:solidFill>
                <a:latin typeface="Helvetica Neue"/>
              </a:rPr>
              <a:t>Which maths operations are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25296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B99A8"/>
                </a:solidFill>
                <a:latin typeface="Helvetica Neue"/>
              </a:rPr>
              <a:t>The IEEE-754 standard requires exact results for some operations, not others.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120640" cy="1600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3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36D3C4"/>
                </a:solidFill>
                <a:latin typeface="Helvetica Neue"/>
              </a:rPr>
              <a:t>REQUIRED TO BE EXACT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59152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0">
                <a:solidFill>
                  <a:srgbClr val="E8ECF1"/>
                </a:solidFill>
                <a:latin typeface="Menlo"/>
              </a:rPr>
              <a:t>+   −   ×   ÷   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8B99A8"/>
                </a:solidFill>
                <a:latin typeface="Helvetica Neue"/>
              </a:rPr>
              <a:t>Any two correct systems must agree.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20640" cy="1600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E5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1">
                <a:solidFill>
                  <a:srgbClr val="E55C5C"/>
                </a:solidFill>
                <a:latin typeface="Helvetica Neue"/>
              </a:rPr>
              <a:t>NOT REQUIRED TO BE EXACT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59152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0">
                <a:solidFill>
                  <a:srgbClr val="E8ECF1"/>
                </a:solidFill>
                <a:latin typeface="Menlo"/>
              </a:rPr>
              <a:t>exp  log  sin  cos  pow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803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8B99A8"/>
                </a:solidFill>
                <a:latin typeface="Helvetica Neue"/>
              </a:rPr>
              <a:t>Results differ between systems.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E8ECF1"/>
                </a:solidFill>
                <a:latin typeface="Helvetica Neue"/>
              </a:rPr>
              <a:t>So the engine only uses the exact ones. The rest were replaced: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023360"/>
            <a:ext cx="10607040" cy="512064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14223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F2B037"/>
                </a:solidFill>
                <a:latin typeface="Menlo"/>
              </a:rPr>
              <a:t>expf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14223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used by softmax and SwiGLU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142232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replaced with a polynomial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14223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6D3C4"/>
                </a:solidFill>
                <a:latin typeface="Helvetica Neue"/>
              </a:rPr>
              <a:t>within 1 ULP of libm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90288"/>
            <a:ext cx="10607040" cy="512064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7091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F2B037"/>
                </a:solidFill>
                <a:latin typeface="Menlo"/>
              </a:rPr>
              <a:t>powf cosf sinf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7091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used by RoPE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70916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replaced with a lookup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7091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6D3C4"/>
                </a:solidFill>
                <a:latin typeface="Helvetica Neue"/>
              </a:rPr>
              <a:t>table is hashed and checked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157216"/>
            <a:ext cx="10607040" cy="512064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27608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F2B037"/>
                </a:solidFill>
                <a:latin typeface="Menlo"/>
              </a:rPr>
              <a:t>sqrtf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27608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used by RMSNorm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527608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kept, it is exact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527608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6D3C4"/>
                </a:solidFill>
                <a:latin typeface="Helvetica Neue"/>
              </a:rPr>
              <a:t>no change needed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724144"/>
            <a:ext cx="10607040" cy="512064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8430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F2B037"/>
                </a:solidFill>
                <a:latin typeface="Menlo"/>
              </a:rPr>
              <a:t>malloc, OpenMP, RNG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584301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not maths, but not reproducible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84301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removed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584301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6D3C4"/>
                </a:solidFill>
                <a:latin typeface="Helvetica Neue"/>
              </a:rPr>
              <a:t>fixed memory, one thread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muInference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300" b="1">
                <a:solidFill>
                  <a:srgbClr val="E8ECF1"/>
                </a:solidFill>
                <a:latin typeface="Helvetica Neue"/>
              </a:rPr>
              <a:t>How the repo is organised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25296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B99A8"/>
                </a:solidFill>
                <a:latin typeface="Helvetica Neue"/>
              </a:rPr>
              <a:t>One engine. Four ways to run it. The engine code is the same in all four.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760" y="1783080"/>
            <a:ext cx="6400800" cy="1371600"/>
          </a:xfrm>
          <a:prstGeom prst="roundRect">
            <a:avLst>
              <a:gd name="adj" fmla="val 6000"/>
            </a:avLst>
          </a:prstGeom>
          <a:solidFill>
            <a:srgbClr val="222B38"/>
          </a:solidFill>
          <a:ln w="15875">
            <a:solidFill>
              <a:srgbClr val="3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26080" y="194767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36D3C4"/>
                </a:solidFill>
                <a:latin typeface="Helvetica Neue"/>
              </a:rPr>
              <a:t>mucore/  —  the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313432"/>
            <a:ext cx="5029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E8ECF1"/>
                </a:solidFill>
                <a:latin typeface="Menlo"/>
              </a:rPr>
              <a:t>mu_math.h   85   the maths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E8ECF1"/>
                </a:solidFill>
                <a:latin typeface="Menlo"/>
              </a:rPr>
              <a:t>mu_core.h  133   the interface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0">
                <a:solidFill>
                  <a:srgbClr val="E8ECF1"/>
                </a:solidFill>
                <a:latin typeface="Menlo"/>
              </a:rPr>
              <a:t>mu_core.c  474   the transformer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210312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36D3C4"/>
                </a:solidFill>
                <a:latin typeface="Helvetica Neue"/>
              </a:rPr>
              <a:t>692
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0440"/>
            <a:ext cx="2514600" cy="16916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8B9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36850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8B99A8"/>
                </a:solidFill>
                <a:latin typeface="Menlo"/>
              </a:rPr>
              <a:t>hosts/posix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0690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8ECF1"/>
                </a:solidFill>
                <a:latin typeface="Helvetica Neue"/>
              </a:rPr>
              <a:t>Runs on macOS or Linux.
For development.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8463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B99A8"/>
                </a:solidFill>
                <a:latin typeface="Menlo"/>
              </a:rPr>
              <a:t>159 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3520440"/>
            <a:ext cx="2514600" cy="16916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9B8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0168" y="36850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9B8CF0"/>
                </a:solidFill>
                <a:latin typeface="Menlo"/>
              </a:rPr>
              <a:t>hosts/baremetal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40690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8ECF1"/>
                </a:solidFill>
                <a:latin typeface="Helvetica Neue"/>
              </a:rPr>
              <a:t>Runs on ARM with no
operating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48463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B99A8"/>
                </a:solidFill>
                <a:latin typeface="Menlo"/>
              </a:rPr>
              <a:t>338 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520440"/>
            <a:ext cx="2514600" cy="16916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9B8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36850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9B8CF0"/>
                </a:solidFill>
                <a:latin typeface="Menlo"/>
              </a:rPr>
              <a:t>hosts/x86_64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40690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8ECF1"/>
                </a:solidFill>
                <a:latin typeface="Helvetica Neue"/>
              </a:rPr>
              <a:t>Runs on Intel with no
operating system.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48463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B99A8"/>
                </a:solidFill>
                <a:latin typeface="Menlo"/>
              </a:rPr>
              <a:t>365 lines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20" y="3520440"/>
            <a:ext cx="2514600" cy="169164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3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33688" y="36850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6D3C4"/>
                </a:solidFill>
                <a:latin typeface="Menlo"/>
              </a:rPr>
              <a:t>hosts/microkit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40690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8ECF1"/>
                </a:solidFill>
                <a:latin typeface="Helvetica Neue"/>
              </a:rPr>
              <a:t>Runs on seL4 as one
protection domain.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484632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8B99A8"/>
                </a:solidFill>
                <a:latin typeface="Menlo"/>
              </a:rPr>
              <a:t>157 lines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440680"/>
            <a:ext cx="10607040" cy="685800"/>
          </a:xfrm>
          <a:prstGeom prst="roundRect">
            <a:avLst>
              <a:gd name="adj" fmla="val 6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5632704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F2B037"/>
                </a:solidFill>
                <a:latin typeface="Helvetica Neue"/>
              </a:rPr>
              <a:t>The model weights are built into each image. One hash covers the code and the weights.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muInference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300" b="1">
                <a:solidFill>
                  <a:srgbClr val="E8ECF1"/>
                </a:solidFill>
                <a:latin typeface="Helvetica Neue"/>
              </a:rPr>
              <a:t>Result: seven systems, one hash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25296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B99A8"/>
                </a:solidFill>
                <a:latin typeface="Helvetica Neue"/>
              </a:rPr>
              <a:t>Hash of the raw output numbers from every step. 3,072,000 bytes.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07040" cy="621792"/>
          </a:xfrm>
          <a:prstGeom prst="roundRect">
            <a:avLst>
              <a:gd name="adj" fmla="val 6000"/>
            </a:avLst>
          </a:prstGeom>
          <a:solidFill>
            <a:srgbClr val="222B38"/>
          </a:solidFill>
          <a:ln w="15875">
            <a:solidFill>
              <a:srgbClr val="3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38528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36D3C4"/>
                </a:solidFill>
                <a:latin typeface="Menlo"/>
              </a:rPr>
              <a:t>9b78b92a305dc59611b5c53a04b538ae9c4ae18aea6c1fdbf6e45e9848b23bd2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78608"/>
            <a:ext cx="10607040" cy="402336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6609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6D3C4"/>
                </a:solidFill>
                <a:latin typeface="Helvetica Neue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6090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clang 21, -O2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66090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macOS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6090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7240" y="3035808"/>
            <a:ext cx="10607040" cy="402336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1181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6D3C4"/>
                </a:solidFill>
                <a:latin typeface="Helvetica Neue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1810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clang 21, -O0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11810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macOS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1810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Helvetica Neue"/>
              </a:rPr>
              <a:t>different optimisation level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93008"/>
            <a:ext cx="10607040" cy="402336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5753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6D3C4"/>
                </a:solidFill>
                <a:latin typeface="Helvetica Neue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7530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clang 22, -O2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57530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macOS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57530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Helvetica Neue"/>
              </a:rPr>
              <a:t>different compiler version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950208"/>
            <a:ext cx="10607040" cy="402336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0325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6D3C4"/>
                </a:solidFill>
                <a:latin typeface="Helvetica Neue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03250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GCC 16, -O2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3250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macOS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03250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B8CF0"/>
                </a:solidFill>
                <a:latin typeface="Helvetica Neue"/>
              </a:rPr>
              <a:t>different compiler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407408"/>
            <a:ext cx="10607040" cy="402336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44897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6D3C4"/>
                </a:solidFill>
                <a:latin typeface="Helvetica Neue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48970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clang 18, -O2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48970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Linux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48970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B8CF0"/>
                </a:solidFill>
                <a:latin typeface="Helvetica Neue"/>
              </a:rPr>
              <a:t>different OS and CPU (CI)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864608"/>
            <a:ext cx="10607040" cy="402336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49469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6D3C4"/>
                </a:solidFill>
                <a:latin typeface="Helvetica Neue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94690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ARM, no 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94690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QEMU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494690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B8CF0"/>
                </a:solidFill>
                <a:latin typeface="Helvetica Neue"/>
              </a:rPr>
              <a:t>no C library at all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321808"/>
            <a:ext cx="10607040" cy="402336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" y="54041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6D3C4"/>
                </a:solidFill>
                <a:latin typeface="Helvetica Neue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40410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Intel, no 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40410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QEMU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40410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6D3C4"/>
                </a:solidFill>
                <a:latin typeface="Helvetica Neue"/>
              </a:rPr>
              <a:t>different CPU maths implementation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779008"/>
            <a:ext cx="10607040" cy="402336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5840" y="58613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6D3C4"/>
                </a:solidFill>
                <a:latin typeface="Helvetica Neue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86130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seL4 / Microkit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86130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QEMU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86130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6D3C4"/>
                </a:solidFill>
                <a:latin typeface="Helvetica Neue"/>
              </a:rPr>
              <a:t>the target system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muInference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300" b="1">
                <a:solidFill>
                  <a:srgbClr val="E8ECF1"/>
                </a:solidFill>
                <a:latin typeface="Helvetica Neue"/>
              </a:rPr>
              <a:t>The test can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25296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B99A8"/>
                </a:solidFill>
                <a:latin typeface="Helvetica Neue"/>
              </a:rPr>
              <a:t>Built the wrong way, the output changes. So the test is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120640" cy="21945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3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6D3C4"/>
                </a:solidFill>
                <a:latin typeface="Helvetica Neue"/>
              </a:rPr>
              <a:t>CORRECT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E8ECF1"/>
                </a:solidFill>
                <a:latin typeface="Menlo"/>
              </a:rPr>
              <a:t>-fno-fast-math
-ffp-contract=off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46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36D3C4"/>
                </a:solidFill>
                <a:latin typeface="Helvetica Neue"/>
              </a:rPr>
              <a:t>0 fused multiply-add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393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8B99A8"/>
                </a:solidFill>
                <a:latin typeface="Menlo"/>
              </a:rPr>
              <a:t>9b78b92a…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120640" cy="21945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E5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084831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E55C5C"/>
                </a:solidFill>
                <a:latin typeface="Helvetica Neue"/>
              </a:rPr>
              <a:t>WRONG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487168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400" b="0">
                <a:solidFill>
                  <a:srgbClr val="E8ECF1"/>
                </a:solidFill>
                <a:latin typeface="Menlo"/>
              </a:rPr>
              <a:t>-Ofast
-march=native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246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900" b="1">
                <a:solidFill>
                  <a:srgbClr val="E55C5C"/>
                </a:solidFill>
                <a:latin typeface="Helvetica Neue"/>
              </a:rPr>
              <a:t>96 fused multiply-add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6393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55C5C"/>
                </a:solidFill>
                <a:latin typeface="Menlo"/>
              </a:rPr>
              <a:t>351ebd7b…  different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343400"/>
            <a:ext cx="10607040" cy="1600200"/>
          </a:xfrm>
          <a:prstGeom prst="roundRect">
            <a:avLst>
              <a:gd name="adj" fmla="val 6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55371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F2B037"/>
                </a:solidFill>
                <a:latin typeface="Helvetica Neue"/>
              </a:rPr>
              <a:t>Why fused multiply-add changes the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56048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50" b="0">
                <a:solidFill>
                  <a:srgbClr val="E8ECF1"/>
                </a:solidFill>
                <a:latin typeface="Helvetica Neue"/>
              </a:rPr>
              <a:t>a*b+c as one instruction rounds once. As two instructions it rounds twice.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50" b="0">
                <a:solidFill>
                  <a:srgbClr val="8B99A8"/>
                </a:solidFill>
                <a:latin typeface="Helvetica Neue"/>
              </a:rPr>
              <a:t>Comparing the text would not catch this. Comparing the numbers catches one bit.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muInference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300" b="1">
                <a:solidFill>
                  <a:srgbClr val="E8ECF1"/>
                </a:solidFill>
                <a:latin typeface="Helvetica Neue"/>
              </a:rPr>
              <a:t>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25296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B99A8"/>
                </a:solidFill>
                <a:latin typeface="Helvetica Neue"/>
              </a:rPr>
              <a:t>All measured.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2514600" cy="21945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3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900" b="1">
                <a:solidFill>
                  <a:srgbClr val="36D3C4"/>
                </a:solidFill>
                <a:latin typeface="Helvetica Neue"/>
              </a:rPr>
              <a:t>692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lines of engine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8B99A8"/>
                </a:solidFill>
                <a:latin typeface="Helvetica Neue"/>
              </a:rPr>
              <a:t>llama2.c is 973.
vLLM stack is millions.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514600" cy="21945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9B8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900" b="1">
                <a:solidFill>
                  <a:srgbClr val="9B8CF0"/>
                </a:solidFill>
                <a:latin typeface="Helvetica Neue"/>
              </a:rPr>
              <a:t>4.13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88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memory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24612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8B99A8"/>
                </a:solidFill>
                <a:latin typeface="Helvetica Neue"/>
              </a:rPr>
              <a:t>Same on all seven systems.
Fixed at build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920240"/>
            <a:ext cx="2514600" cy="21945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F2B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219456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900" b="1">
                <a:solidFill>
                  <a:srgbClr val="F2B037"/>
                </a:solidFill>
                <a:latin typeface="Helvetica Neue"/>
              </a:rPr>
              <a:t>161 tok/s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88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one CPU thread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24612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8B99A8"/>
                </a:solidFill>
                <a:latin typeface="Helvetica Neue"/>
              </a:rPr>
              <a:t>Apple Silicon.
No BLAS, no SIMD, no threads.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920240"/>
            <a:ext cx="2514600" cy="21945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3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219456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900" b="1">
                <a:solidFill>
                  <a:srgbClr val="36D3C4"/>
                </a:solidFill>
                <a:latin typeface="Helvetica Neue"/>
              </a:rPr>
              <a:t>1 ULP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788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worst maths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24612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150" b="0">
                <a:solidFill>
                  <a:srgbClr val="8B99A8"/>
                </a:solidFill>
                <a:latin typeface="Helvetica Neue"/>
              </a:rPr>
              <a:t>Compared against libm
at 16 million points.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434840"/>
            <a:ext cx="10607040" cy="1463040"/>
          </a:xfrm>
          <a:prstGeom prst="roundRect">
            <a:avLst>
              <a:gd name="adj" fmla="val 6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64515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36D3C4"/>
                </a:solidFill>
                <a:latin typeface="Helvetica Neue"/>
              </a:rPr>
              <a:t>Compared against the original llama2.c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047488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50" b="0">
                <a:solidFill>
                  <a:srgbClr val="E8ECF1"/>
                </a:solidFill>
                <a:latin typeface="Helvetica Neue"/>
              </a:rPr>
              <a:t>5 out of 5 test prompts give exactly the same text.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50" b="0">
                <a:solidFill>
                  <a:srgbClr val="8B99A8"/>
                </a:solidFill>
                <a:latin typeface="Helvetica Neue"/>
              </a:rPr>
              <a:t>Replacing the maths functions did not change the output.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muInference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300" b="1">
                <a:solidFill>
                  <a:srgbClr val="E8ECF1"/>
                </a:solidFill>
                <a:latin typeface="Helvetica Neue"/>
              </a:rPr>
              <a:t>What is not claimed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54864" cy="658368"/>
          </a:xfrm>
          <a:prstGeom prst="rect">
            <a:avLst/>
          </a:prstGeom>
          <a:solidFill>
            <a:srgbClr val="F2B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56232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2B037"/>
                </a:solidFill>
                <a:latin typeface="Helvetica Neue"/>
              </a:rPr>
              <a:t>Not tested on real 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56232"/>
            <a:ext cx="6217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8ECF1"/>
                </a:solidFill>
                <a:latin typeface="Helvetica Neue"/>
              </a:rPr>
              <a:t>Only in QEMU, an emulator.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514600"/>
            <a:ext cx="54864" cy="658368"/>
          </a:xfrm>
          <a:prstGeom prst="rect">
            <a:avLst/>
          </a:prstGeom>
          <a:solidFill>
            <a:srgbClr val="F2B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587752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2B037"/>
                </a:solidFill>
                <a:latin typeface="Helvetica Neue"/>
              </a:rPr>
              <a:t>Builds are not reproducible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587752"/>
            <a:ext cx="6217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8ECF1"/>
                </a:solidFill>
                <a:latin typeface="Helvetica Neue"/>
              </a:rPr>
              <a:t>The output is the same. The binary files are not identical.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46120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3246120"/>
            <a:ext cx="54864" cy="658368"/>
          </a:xfrm>
          <a:prstGeom prst="rect">
            <a:avLst/>
          </a:prstGeom>
          <a:solidFill>
            <a:srgbClr val="F2B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319272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2B037"/>
                </a:solidFill>
                <a:latin typeface="Helvetica Neue"/>
              </a:rPr>
              <a:t>Only one model tested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319272"/>
            <a:ext cx="6217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8ECF1"/>
                </a:solidFill>
                <a:latin typeface="Helvetica Neue"/>
              </a:rPr>
              <a:t>stories15M, 15 million parameters. Not tested at 7 billion.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77640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3977640"/>
            <a:ext cx="54864" cy="658368"/>
          </a:xfrm>
          <a:prstGeom prst="rect">
            <a:avLst/>
          </a:prstGeom>
          <a:solidFill>
            <a:srgbClr val="F2B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050792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2B037"/>
                </a:solidFill>
                <a:latin typeface="Helvetica Neue"/>
              </a:rPr>
              <a:t>No temperature sampling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050792"/>
            <a:ext cx="6217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8ECF1"/>
                </a:solidFill>
                <a:latin typeface="Helvetica Neue"/>
              </a:rPr>
              <a:t>Only greedy selection. Random sampling needs a fixed random seed.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09160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4709160"/>
            <a:ext cx="54864" cy="658368"/>
          </a:xfrm>
          <a:prstGeom prst="rect">
            <a:avLst/>
          </a:prstGeom>
          <a:solidFill>
            <a:srgbClr val="F2B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782312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2B037"/>
                </a:solidFill>
                <a:latin typeface="Helvetica Neue"/>
              </a:rPr>
              <a:t>No GPU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782312"/>
            <a:ext cx="6217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8ECF1"/>
                </a:solidFill>
                <a:latin typeface="Helvetica Neue"/>
              </a:rPr>
              <a:t>A GPU needs signed vendor firmware and a closed compiler. Both would break the claim.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440680"/>
            <a:ext cx="10607040" cy="658368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7240" y="5440680"/>
            <a:ext cx="54864" cy="658368"/>
          </a:xfrm>
          <a:prstGeom prst="rect">
            <a:avLst/>
          </a:prstGeom>
          <a:solidFill>
            <a:srgbClr val="F2B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513832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F2B037"/>
                </a:solidFill>
                <a:latin typeface="Helvetica Neue"/>
              </a:rPr>
              <a:t>seL4 is not fully verified on ARM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513832"/>
            <a:ext cx="62179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8ECF1"/>
                </a:solidFill>
                <a:latin typeface="Helvetica Neue"/>
              </a:rPr>
              <a:t>Correctness and integrity are proven. Confidentiality is not. Single core only. No IOMMU.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muInference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300" b="1">
                <a:solidFill>
                  <a:srgbClr val="E8ECF1"/>
                </a:solidFill>
                <a:latin typeface="Helvetica Neue"/>
              </a:rPr>
              <a:t>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3383280" cy="39319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3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2" y="199339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6D3C4"/>
                </a:solidFill>
                <a:latin typeface="Helvetica Neue"/>
              </a:rPr>
              <a:t>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" y="2450592"/>
            <a:ext cx="28803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·  692-line engine, four hosts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·  Same output on seven systems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·  Runs on seL4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·  Tests pass in CI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·  Matches llama2.c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83080"/>
            <a:ext cx="3383280" cy="39319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F2B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2" y="199339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B037"/>
                </a:solidFill>
                <a:latin typeface="Helvetica Neue"/>
              </a:rPr>
              <a:t>NEXT —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2450592"/>
            <a:ext cx="28803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·  Prove there are no memory errors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·  Prove the maths error bound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·  Check reproducibility automatically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·  Run on real hardware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·  Test a larger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783080"/>
            <a:ext cx="3383280" cy="39319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9B8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65592" y="199339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9B8CF0"/>
                </a:solidFill>
                <a:latin typeface="Helvetica Neue"/>
              </a:rPr>
              <a:t>LATER —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2450592"/>
            <a:ext cx="28803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·  Prove reproducibility as a theorem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·  Prove the total error bound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·  Use it to check other systems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·  Move to RISC-V for stronger proofs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·  Try integers instead of floats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muInference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300" b="1">
                <a:solidFill>
                  <a:srgbClr val="E8ECF1"/>
                </a:solidFill>
                <a:latin typeface="Helvetica Neue"/>
              </a:rPr>
              <a:t>Testing is not proving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25296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B99A8"/>
                </a:solidFill>
                <a:latin typeface="Helvetica Neue"/>
              </a:rPr>
              <a:t>Tests check some inputs. A proof covers all of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F2B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084831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B037"/>
                </a:solidFill>
                <a:latin typeface="Helvetica Neue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8716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E8ECF1"/>
                </a:solidFill>
                <a:latin typeface="Menlo"/>
              </a:rPr>
              <a:t>7 systems, 1 prompt, 24 steps.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0">
                <a:solidFill>
                  <a:srgbClr val="E8ECF1"/>
                </a:solidFill>
                <a:latin typeface="Helvetica Neue"/>
              </a:rPr>
              <a:t>A good sample.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0">
                <a:solidFill>
                  <a:srgbClr val="F2B037"/>
                </a:solidFill>
                <a:latin typeface="Helvetica Neue"/>
              </a:rPr>
              <a:t>Still only a sample.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74519"/>
            <a:ext cx="5120640" cy="173736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3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2084831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6D3C4"/>
                </a:solidFill>
                <a:latin typeface="Helvetica Neue"/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87168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E8ECF1"/>
                </a:solidFill>
                <a:latin typeface="Menlo"/>
              </a:rPr>
              <a:t>All inputs. All correct systems.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0">
                <a:solidFill>
                  <a:srgbClr val="E8ECF1"/>
                </a:solidFill>
                <a:latin typeface="Helvetica Neue"/>
              </a:rPr>
              <a:t>Checked by machine, once.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50" b="0">
                <a:solidFill>
                  <a:srgbClr val="36D3C4"/>
                </a:solidFill>
                <a:latin typeface="Helvetica Neue"/>
              </a:rPr>
              <a:t>Covers inputs never run.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86200"/>
            <a:ext cx="10607040" cy="1874519"/>
          </a:xfrm>
          <a:prstGeom prst="roundRect">
            <a:avLst>
              <a:gd name="adj" fmla="val 6000"/>
            </a:avLst>
          </a:prstGeom>
          <a:solidFill>
            <a:srgbClr val="222B38"/>
          </a:solidFill>
          <a:ln w="15875">
            <a:solidFill>
              <a:srgbClr val="E5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09651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E55C5C"/>
                </a:solidFill>
                <a:latin typeface="Helvetica Neue"/>
              </a:rPr>
              <a:t>One thing proofs cannot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98848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50" b="0">
                <a:solidFill>
                  <a:srgbClr val="E8ECF1"/>
                </a:solidFill>
                <a:latin typeface="Helvetica Neue"/>
              </a:rPr>
              <a:t>A proof says the program is correct for all inputs. It says nothing about one specific run.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50" b="0">
                <a:solidFill>
                  <a:srgbClr val="E8ECF1"/>
                </a:solidFill>
                <a:latin typeface="Helvetica Neue"/>
              </a:rPr>
              <a:t>To show what happened on a specific run you need attestation or re-running.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350" b="0">
                <a:solidFill>
                  <a:srgbClr val="8B99A8"/>
                </a:solidFill>
                <a:latin typeface="Helvetica Neue"/>
              </a:rPr>
              <a:t>Proofs make the engine worth trusting. They are not a receipt.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muInference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300" b="1">
                <a:solidFill>
                  <a:srgbClr val="E8ECF1"/>
                </a:solidFill>
                <a:latin typeface="Helvetica Neue"/>
              </a:rPr>
              <a:t>What to 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25296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B99A8"/>
                </a:solidFill>
                <a:latin typeface="Helvetica Neue"/>
              </a:rPr>
              <a:t>Five parts, cheapest first. Each one is a separate, checkable 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9280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6D3C4"/>
                </a:solidFill>
                <a:latin typeface="Menlo"/>
              </a:rPr>
              <a:t>S1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9280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No memory errors or crashes, for any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8928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Frama-C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89280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6D3C4"/>
                </a:solidFill>
                <a:latin typeface="Helvetica Neue"/>
              </a:rPr>
              <a:t>no proof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95144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40487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6D3C4"/>
                </a:solidFill>
                <a:latin typeface="Menlo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048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Memory use never exceeds the fixed limit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0487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Frama-C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4048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6D3C4"/>
                </a:solidFill>
                <a:latin typeface="Helvetica Neue"/>
              </a:rPr>
              <a:t>no proof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07208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91693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36D3C4"/>
                </a:solidFill>
                <a:latin typeface="Menlo"/>
              </a:rPr>
              <a:t>S3a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91693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Only the exact maths operations are 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1693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clang plugin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91693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6D3C4"/>
                </a:solidFill>
                <a:latin typeface="Helvetica Neue"/>
              </a:rPr>
              <a:t>no proof 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319272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4290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9B8CF0"/>
                </a:solidFill>
                <a:latin typeface="Menlo"/>
              </a:rPr>
              <a:t>S3b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4290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Output depends only on the inputs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290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CompCert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4290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B8CF0"/>
                </a:solidFill>
                <a:latin typeface="Helvetica Neue"/>
              </a:rPr>
              <a:t>no proof work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831336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394106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9B8CF0"/>
                </a:solidFill>
                <a:latin typeface="Menlo"/>
              </a:rPr>
              <a:t>S4a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94106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The exp function is within a known error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94106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Gappa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94106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B8CF0"/>
                </a:solidFill>
                <a:latin typeface="Helvetica Neue"/>
              </a:rPr>
              <a:t>proof generated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343400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445312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B037"/>
                </a:solidFill>
                <a:latin typeface="Menlo"/>
              </a:rPr>
              <a:t>S4b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45312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The matrix multiply error bound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4531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LAProof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45312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F2B037"/>
                </a:solidFill>
                <a:latin typeface="Helvetica Neue"/>
              </a:rPr>
              <a:t>some proof work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855464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" y="49651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B037"/>
                </a:solidFill>
                <a:latin typeface="Menlo"/>
              </a:rPr>
              <a:t>S4c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496519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The total error for one token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9651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combine S4a, S4b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96519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F2B037"/>
                </a:solidFill>
                <a:latin typeface="Helvetica Neue"/>
              </a:rPr>
              <a:t>proof work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367528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547725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E55C5C"/>
                </a:solidFill>
                <a:latin typeface="Menlo"/>
              </a:rPr>
              <a:t>S5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547725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It computes a transformer correctly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547725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Coq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47725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55C5C"/>
                </a:solidFill>
                <a:latin typeface="Helvetica Neue"/>
              </a:rPr>
              <a:t>large project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89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1">
                <a:solidFill>
                  <a:srgbClr val="36D3C4"/>
                </a:solidFill>
                <a:latin typeface="Helvetica Neue"/>
              </a:rPr>
              <a:t>S1 to S4a need no hand-written proofs. Tools do the work.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muInference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300" b="1">
                <a:solidFill>
                  <a:srgbClr val="E8ECF1"/>
                </a:solidFill>
                <a:latin typeface="Helvetica Neue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25296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B99A8"/>
                </a:solidFill>
                <a:latin typeface="Helvetica Neue"/>
              </a:rPr>
              <a:t>Each step is a separate piece of work with its own test in CI.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56232"/>
            <a:ext cx="310896" cy="310896"/>
          </a:xfrm>
          <a:prstGeom prst="roundRect">
            <a:avLst>
              <a:gd name="adj" fmla="val 6000"/>
            </a:avLst>
          </a:prstGeom>
          <a:solidFill>
            <a:srgbClr val="36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9280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1161D"/>
                </a:solidFill>
                <a:latin typeface="Helvetica Neue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9280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Run CBMC to look for crashes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9280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3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89280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6D3C4"/>
                </a:solidFill>
                <a:latin typeface="Helvetica Neue"/>
              </a:rPr>
              <a:t>find problems early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295144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236829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36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40487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1161D"/>
                </a:solidFill>
                <a:latin typeface="Helvetica Neue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40487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Prove no memory errors (S1, S2)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048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3-6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40487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6D3C4"/>
                </a:solidFill>
                <a:latin typeface="Helvetica Neue"/>
              </a:rPr>
              <a:t>no crashes, any 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807208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14400" y="288036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36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91693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1161D"/>
                </a:solidFill>
                <a:latin typeface="Helvetica Neue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91693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Add the maths-operations check (S3a)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91693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1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916936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36D3C4"/>
                </a:solidFill>
                <a:latin typeface="Helvetica Neue"/>
              </a:rPr>
              <a:t>checked automatically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319272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4400" y="3392424"/>
            <a:ext cx="310896" cy="310896"/>
          </a:xfrm>
          <a:prstGeom prst="roundRect">
            <a:avLst>
              <a:gd name="adj" fmla="val 6000"/>
            </a:avLst>
          </a:prstGeom>
          <a:solidFill>
            <a:srgbClr val="9B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429000"/>
            <a:ext cx="3108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1161D"/>
                </a:solidFill>
                <a:latin typeface="Helvetica Neue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4290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Prove the exp error bound (S4a)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290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2-4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4290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B8CF0"/>
                </a:solidFill>
                <a:latin typeface="Helvetica Neue"/>
              </a:rPr>
              <a:t>known maths error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831336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4400" y="390448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F2B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3941064"/>
            <a:ext cx="3108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1161D"/>
                </a:solidFill>
                <a:latin typeface="Helvetica Neue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94106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Prove the matrix multiply bound (S4b)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9410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1-2 months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394106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F2B037"/>
                </a:solidFill>
                <a:latin typeface="Helvetica Neue"/>
              </a:rPr>
              <a:t>known matmul error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343400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14400" y="4416552"/>
            <a:ext cx="310896" cy="310896"/>
          </a:xfrm>
          <a:prstGeom prst="roundRect">
            <a:avLst>
              <a:gd name="adj" fmla="val 6000"/>
            </a:avLst>
          </a:prstGeom>
          <a:solidFill>
            <a:srgbClr val="9B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453128"/>
            <a:ext cx="3108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1161D"/>
                </a:solidFill>
                <a:latin typeface="Helvetica Neue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445312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Build with CompCert (S3b)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45312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2-4 weeks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445312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9B8CF0"/>
                </a:solidFill>
                <a:latin typeface="Helvetica Neue"/>
              </a:rPr>
              <a:t>reproducibility proven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4855464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14400" y="492861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F2B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4965192"/>
            <a:ext cx="3108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1161D"/>
                </a:solidFill>
                <a:latin typeface="Helvetica Neue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496519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Combine the error bounds (S4c)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96519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4965192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F2B037"/>
                </a:solidFill>
                <a:latin typeface="Helvetica Neue"/>
              </a:rPr>
              <a:t>total error known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5367528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14400" y="5440680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4400" y="5477256"/>
            <a:ext cx="3108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1161D"/>
                </a:solidFill>
                <a:latin typeface="Helvetica Neue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17320" y="54772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Prove full correctness (S5)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547725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research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5477256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55C5C"/>
                </a:solidFill>
                <a:latin typeface="Helvetica Neue"/>
              </a:rPr>
              <a:t>not scheduled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" y="5897880"/>
            <a:ext cx="10607040" cy="457200"/>
          </a:xfrm>
          <a:prstGeom prst="roundRect">
            <a:avLst>
              <a:gd name="adj" fmla="val 6000"/>
            </a:avLst>
          </a:prstGeom>
          <a:solidFill>
            <a:srgbClr val="222B38"/>
          </a:solidFill>
          <a:ln w="15875">
            <a:solidFill>
              <a:srgbClr val="3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51560" y="6035040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36D3C4"/>
                </a:solidFill>
                <a:latin typeface="Helvetica Neue"/>
              </a:rPr>
              <a:t>Steps 0 to 3 take about two months and use existing tools.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muInference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300" b="1">
                <a:solidFill>
                  <a:srgbClr val="E8ECF1"/>
                </a:solidFill>
                <a:latin typeface="Helvetica Neue"/>
              </a:rPr>
              <a:t>AI cannot write the proofs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25296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8B99A8"/>
                </a:solidFill>
                <a:latin typeface="Helvetica Neue"/>
              </a:rPr>
              <a:t>Measured by VERINA. Best model tested was o3, writing Lean.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E8ECF1"/>
                </a:solidFill>
                <a:latin typeface="Helvetica Neue"/>
              </a:rPr>
              <a:t>Writing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2011680"/>
            <a:ext cx="6583680" cy="502920"/>
          </a:xfrm>
          <a:prstGeom prst="rect">
            <a:avLst/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0" y="2011680"/>
            <a:ext cx="4779751" cy="502920"/>
          </a:xfrm>
          <a:prstGeom prst="rect">
            <a:avLst/>
          </a:prstGeom>
          <a:solidFill>
            <a:srgbClr val="36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0" y="210312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36D3C4"/>
                </a:solidFill>
                <a:latin typeface="Menlo"/>
              </a:rPr>
              <a:t>72.6%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E8ECF1"/>
                </a:solidFill>
                <a:latin typeface="Helvetica Neue"/>
              </a:rPr>
              <a:t>Writing the spec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788920"/>
            <a:ext cx="6583680" cy="502920"/>
          </a:xfrm>
          <a:prstGeom prst="rect">
            <a:avLst/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2788920"/>
            <a:ext cx="3443264" cy="502920"/>
          </a:xfrm>
          <a:prstGeom prst="rect">
            <a:avLst/>
          </a:prstGeom>
          <a:solidFill>
            <a:srgbClr val="F2B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0" y="288036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2B037"/>
                </a:solidFill>
                <a:latin typeface="Menlo"/>
              </a:rPr>
              <a:t>52.3%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E8ECF1"/>
                </a:solidFill>
                <a:latin typeface="Helvetica Neue"/>
              </a:rPr>
              <a:t>Writing the proof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566160"/>
            <a:ext cx="6583680" cy="502920"/>
          </a:xfrm>
          <a:prstGeom prst="rect">
            <a:avLst/>
          </a:prstGeom>
          <a:solidFill>
            <a:srgbClr val="1A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74720" y="3566160"/>
            <a:ext cx="322600" cy="502920"/>
          </a:xfrm>
          <a:prstGeom prst="rect">
            <a:avLst/>
          </a:prstGeom>
          <a:solidFill>
            <a:srgbClr val="E5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0" y="3657600"/>
            <a:ext cx="11887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E55C5C"/>
                </a:solidFill>
                <a:latin typeface="Menlo"/>
              </a:rPr>
              <a:t>4.9%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43484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222B38"/>
          </a:solidFill>
          <a:ln w="15875">
            <a:solidFill>
              <a:srgbClr val="E5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6177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E55C5C"/>
                </a:solidFill>
                <a:latin typeface="Helvetica Neue"/>
              </a:rPr>
              <a:t>So do not plan on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010912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A 5% success rate cannot be the main path.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434840"/>
            <a:ext cx="5120640" cy="1371600"/>
          </a:xfrm>
          <a:prstGeom prst="roundRect">
            <a:avLst>
              <a:gd name="adj" fmla="val 6000"/>
            </a:avLst>
          </a:prstGeom>
          <a:solidFill>
            <a:srgbClr val="222B38"/>
          </a:solidFill>
          <a:ln w="15875">
            <a:solidFill>
              <a:srgbClr val="3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46177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36D3C4"/>
                </a:solidFill>
                <a:latin typeface="Helvetica Neue"/>
              </a:rPr>
              <a:t>What the plan does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010912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Helvetica Neue"/>
              </a:rPr>
              <a:t>Use tools that prove things automatically. Only about 100 lines need real proof work.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muInference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300" b="1">
                <a:solidFill>
                  <a:srgbClr val="E8ECF1"/>
                </a:solidFill>
                <a:latin typeface="Helvetica Neue"/>
              </a:rPr>
              <a:t>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10607040" cy="11887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36D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51560" y="2057400"/>
            <a:ext cx="384048" cy="384048"/>
          </a:xfrm>
          <a:prstGeom prst="roundRect">
            <a:avLst>
              <a:gd name="adj" fmla="val 6000"/>
            </a:avLst>
          </a:prstGeom>
          <a:solidFill>
            <a:srgbClr val="36D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1161D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98424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36D3C4"/>
                </a:solidFill>
                <a:latin typeface="Helvetica Neue"/>
              </a:rPr>
              <a:t>Approve steps 0 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368296"/>
            <a:ext cx="9326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E8ECF1"/>
                </a:solidFill>
                <a:latin typeface="Helvetica Neue"/>
              </a:rPr>
              <a:t>About two months. Existing tools. No hand-written proofs. Result: no memory errors, and a known maths error bound.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081528"/>
            <a:ext cx="10607040" cy="11887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F2B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1560" y="3355848"/>
            <a:ext cx="384048" cy="384048"/>
          </a:xfrm>
          <a:prstGeom prst="roundRect">
            <a:avLst>
              <a:gd name="adj" fmla="val 6000"/>
            </a:avLst>
          </a:prstGeom>
          <a:solidFill>
            <a:srgbClr val="F2B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40156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1161D"/>
                </a:solidFill>
                <a:latin typeface="Helvetica Ne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82696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F2B037"/>
                </a:solidFill>
                <a:latin typeface="Helvetica Neue"/>
              </a:rPr>
              <a:t>Decide whether to do S5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666744"/>
            <a:ext cx="9326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E8ECF1"/>
                </a:solidFill>
                <a:latin typeface="Helvetica Neue"/>
              </a:rPr>
              <a:t>Full correctness needs a reference transformer written in Coq. That is a large project on its own. Suggestion: leave it out for 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79976"/>
            <a:ext cx="10607040" cy="1188720"/>
          </a:xfrm>
          <a:prstGeom prst="roundRect">
            <a:avLst>
              <a:gd name="adj" fmla="val 6000"/>
            </a:avLst>
          </a:prstGeom>
          <a:solidFill>
            <a:srgbClr val="1A212B"/>
          </a:solidFill>
          <a:ln w="15875">
            <a:solidFill>
              <a:srgbClr val="9B8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1560" y="4654296"/>
            <a:ext cx="384048" cy="384048"/>
          </a:xfrm>
          <a:prstGeom prst="roundRect">
            <a:avLst>
              <a:gd name="adj" fmla="val 6000"/>
            </a:avLst>
          </a:prstGeom>
          <a:solidFill>
            <a:srgbClr val="9B8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700016"/>
            <a:ext cx="3840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11161D"/>
                </a:solidFill>
                <a:latin typeface="Helvetica Ne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581144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9B8CF0"/>
                </a:solidFill>
                <a:latin typeface="Helvetica Neue"/>
              </a:rPr>
              <a:t>Contact Theorem Labs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965192"/>
            <a:ext cx="93268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E8ECF1"/>
                </a:solidFill>
                <a:latin typeface="Helvetica Neue"/>
              </a:rPr>
              <a:t>A research lab working on AI for formal verification. $6M funding. Their tools found a bug in Anthropic's sampling code that testing missed.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806440"/>
            <a:ext cx="10607040" cy="420624"/>
          </a:xfrm>
          <a:prstGeom prst="roundRect">
            <a:avLst>
              <a:gd name="adj" fmla="val 6000"/>
            </a:avLst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5916168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8B99A8"/>
                </a:solidFill>
                <a:latin typeface="Menlo"/>
              </a:rPr>
              <a:t>github.com/luiscosio/muInference   ·   PR #1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825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muInference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382512"/>
            <a:ext cx="777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8B99A8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f611b9f-07f9-4735-9f2f-45a599566f6b}" enabled="1" method="Standard" siteId="{261bc682-cd4a-4ee7-8ae4-9e82e1342e7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1619</Words>
  <Application>Microsoft Macintosh PowerPoint</Application>
  <PresentationFormat>Widescreen</PresentationFormat>
  <Paragraphs>312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 Cosio</cp:lastModifiedBy>
  <cp:revision>1</cp:revision>
  <dcterms:created xsi:type="dcterms:W3CDTF">2013-01-27T09:14:16Z</dcterms:created>
  <dcterms:modified xsi:type="dcterms:W3CDTF">2026-07-25T17:33:39Z</dcterms:modified>
  <cp:category/>
</cp:coreProperties>
</file>